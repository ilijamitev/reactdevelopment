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Slab"/>
      <p:regular r:id="rId20"/>
      <p:bold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Source Sans Pr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lab-regular.fntdata"/><Relationship Id="rId22" Type="http://schemas.openxmlformats.org/officeDocument/2006/relationships/font" Target="fonts/Nunito-regular.fntdata"/><Relationship Id="rId21" Type="http://schemas.openxmlformats.org/officeDocument/2006/relationships/font" Target="fonts/RobotoSlab-bold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SansPro-regular.fntdata"/><Relationship Id="rId25" Type="http://schemas.openxmlformats.org/officeDocument/2006/relationships/font" Target="fonts/Nunito-boldItalic.fntdata"/><Relationship Id="rId28" Type="http://schemas.openxmlformats.org/officeDocument/2006/relationships/font" Target="fonts/SourceSansPro-italic.fntdata"/><Relationship Id="rId27" Type="http://schemas.openxmlformats.org/officeDocument/2006/relationships/font" Target="fonts/SourceSans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ourceSansPr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0a52b1a2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a0a52b1a2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0a52b1a25_1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a0a52b1a25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a0a52b1a25_1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a0a52b1a2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0a52b1a25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a0a52b1a25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a0a52b1a25_1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a0a52b1a25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a0a52b1a25_1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a0a52b1a25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0a52b1a25_1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a0a52b1a25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a0a52b1a25_1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a0a52b1a25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a0a52b1a25_1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a0a52b1a25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a0a52b1a25_1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a0a52b1a25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a0a52b1a25_1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a0a52b1a25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a0a52b1a25_1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a0a52b1a25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a0a52b1a25_1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a0a52b1a25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a0a52b1a25_1_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a0a52b1a25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 b="1" sz="5800"/>
            </a:lvl9pPr>
          </a:lstStyle>
          <a:p/>
        </p:txBody>
      </p:sp>
      <p:sp>
        <p:nvSpPr>
          <p:cNvPr id="126" name="Google Shape;126;p13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 sz="4400"/>
            </a:lvl9pPr>
          </a:lstStyle>
          <a:p/>
        </p:txBody>
      </p:sp>
      <p:sp>
        <p:nvSpPr>
          <p:cNvPr id="143" name="Google Shape;143;p14"/>
          <p:cNvSpPr txBox="1"/>
          <p:nvPr>
            <p:ph idx="1" type="subTitle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ctrTitle"/>
          </p:nvPr>
        </p:nvSpPr>
        <p:spPr>
          <a:xfrm>
            <a:off x="2410730" y="2057048"/>
            <a:ext cx="5807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">
                <a:solidFill>
                  <a:srgbClr val="007ACC"/>
                </a:solidFill>
              </a:rPr>
              <a:t>TypeScript</a:t>
            </a:r>
            <a:endParaRPr>
              <a:solidFill>
                <a:srgbClr val="007ACC"/>
              </a:solidFill>
            </a:endParaRPr>
          </a:p>
        </p:txBody>
      </p:sp>
      <p:pic>
        <p:nvPicPr>
          <p:cNvPr descr="Getting started with TypeScript.. If you want to start developing ..."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4938" y="1905264"/>
            <a:ext cx="1311584" cy="131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3279930" y="1849829"/>
            <a:ext cx="976866" cy="414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Class 05</a:t>
            </a:r>
            <a:endParaRPr b="0" i="0" sz="1800" u="none" cap="none" strike="noStrik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1196850" y="3926875"/>
            <a:ext cx="36993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Ivo Kostovski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Gjorge Dimitrov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ctrTitle"/>
          </p:nvPr>
        </p:nvSpPr>
        <p:spPr>
          <a:xfrm>
            <a:off x="1546025" y="1754794"/>
            <a:ext cx="5834959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1.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solidFill>
                  <a:srgbClr val="007ACC"/>
                </a:solidFill>
              </a:rPr>
              <a:t>What is TypeScript?</a:t>
            </a:r>
            <a:endParaRPr>
              <a:solidFill>
                <a:srgbClr val="007ACC"/>
              </a:solidFill>
            </a:endParaRPr>
          </a:p>
        </p:txBody>
      </p:sp>
      <p:sp>
        <p:nvSpPr>
          <p:cNvPr id="157" name="Google Shape;157;p16"/>
          <p:cNvSpPr txBox="1"/>
          <p:nvPr>
            <p:ph idx="1" type="subTitle"/>
          </p:nvPr>
        </p:nvSpPr>
        <p:spPr>
          <a:xfrm>
            <a:off x="1546024" y="3011511"/>
            <a:ext cx="5734539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TypeScript is a </a:t>
            </a:r>
            <a:r>
              <a:rPr b="1" lang="en" sz="1800"/>
              <a:t>typed superset </a:t>
            </a:r>
            <a:r>
              <a:rPr lang="en" sz="1800"/>
              <a:t>of JavaScript that compiles to plain JavaScript.</a:t>
            </a:r>
            <a:endParaRPr sz="1800"/>
          </a:p>
        </p:txBody>
      </p:sp>
      <p:sp>
        <p:nvSpPr>
          <p:cNvPr id="158" name="Google Shape;158;p16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17"/>
          <p:cNvSpPr txBox="1"/>
          <p:nvPr>
            <p:ph idx="4294967295" type="ctrTitle"/>
          </p:nvPr>
        </p:nvSpPr>
        <p:spPr>
          <a:xfrm>
            <a:off x="3308350" y="1419225"/>
            <a:ext cx="5835650" cy="1160463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JavaScript</a:t>
            </a:r>
            <a:endParaRPr b="0" i="0" sz="1800" u="none" cap="none" strike="noStrike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029361" y="1029111"/>
            <a:ext cx="3085278" cy="3085278"/>
          </a:xfrm>
          <a:prstGeom prst="ellipse">
            <a:avLst/>
          </a:prstGeom>
          <a:solidFill>
            <a:schemeClr val="accent1"/>
          </a:solidFill>
          <a:ln cap="flat" cmpd="sng" w="5080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3552993" y="2145219"/>
            <a:ext cx="2038014" cy="68680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JavaScript</a:t>
            </a:r>
            <a:endParaRPr b="0" i="0" sz="1800" u="none" cap="none" strike="noStrike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3552993" y="862855"/>
            <a:ext cx="2038014" cy="41258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0" i="0" lang="en" sz="1400" u="none" cap="none" strike="noStrike">
                <a:solidFill>
                  <a:srgbClr val="007ACC"/>
                </a:solidFill>
                <a:latin typeface="Roboto Slab"/>
                <a:ea typeface="Roboto Slab"/>
                <a:cs typeface="Roboto Slab"/>
                <a:sym typeface="Roboto Slab"/>
              </a:rPr>
              <a:t>TypeScript</a:t>
            </a:r>
            <a:endParaRPr b="0" i="0" sz="1050" u="none" cap="none" strike="noStrike">
              <a:solidFill>
                <a:srgbClr val="007AC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18"/>
          <p:cNvSpPr txBox="1"/>
          <p:nvPr>
            <p:ph idx="4294967295" type="ctrTitle"/>
          </p:nvPr>
        </p:nvSpPr>
        <p:spPr>
          <a:xfrm>
            <a:off x="3589825" y="1238750"/>
            <a:ext cx="58356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JavaScript</a:t>
            </a:r>
            <a:endParaRPr b="0" i="0" sz="1800" u="none" cap="none" strike="noStrike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74" name="Google Shape;174;p18"/>
          <p:cNvGrpSpPr/>
          <p:nvPr/>
        </p:nvGrpSpPr>
        <p:grpSpPr>
          <a:xfrm>
            <a:off x="1162162" y="1438606"/>
            <a:ext cx="2347438" cy="2347438"/>
            <a:chOff x="801200" y="1373002"/>
            <a:chExt cx="2347438" cy="2347438"/>
          </a:xfrm>
        </p:grpSpPr>
        <p:sp>
          <p:nvSpPr>
            <p:cNvPr id="175" name="Google Shape;175;p18"/>
            <p:cNvSpPr/>
            <p:nvPr/>
          </p:nvSpPr>
          <p:spPr>
            <a:xfrm>
              <a:off x="801200" y="1373002"/>
              <a:ext cx="2347438" cy="2347438"/>
            </a:xfrm>
            <a:prstGeom prst="ellipse">
              <a:avLst/>
            </a:prstGeom>
            <a:solidFill>
              <a:srgbClr val="CFD8DC"/>
            </a:solidFill>
            <a:ln cap="flat" cmpd="sng" w="2540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8"/>
            <p:cNvSpPr txBox="1"/>
            <p:nvPr/>
          </p:nvSpPr>
          <p:spPr>
            <a:xfrm>
              <a:off x="955912" y="2338570"/>
              <a:ext cx="2038014" cy="412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000"/>
                <a:buFont typeface="Roboto Slab"/>
                <a:buNone/>
              </a:pPr>
              <a:r>
                <a:rPr b="0" i="0" lang="en" sz="2000" u="none" cap="none" strike="noStrike">
                  <a:solidFill>
                    <a:srgbClr val="007ACC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TypeScript</a:t>
              </a:r>
              <a:endParaRPr b="0" i="0" sz="1400" u="none" cap="none" strike="noStrike">
                <a:solidFill>
                  <a:srgbClr val="007ACC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7" name="Google Shape;177;p18"/>
          <p:cNvGrpSpPr/>
          <p:nvPr/>
        </p:nvGrpSpPr>
        <p:grpSpPr>
          <a:xfrm>
            <a:off x="5681016" y="1436747"/>
            <a:ext cx="2347438" cy="2347438"/>
            <a:chOff x="5320054" y="1371143"/>
            <a:chExt cx="2347438" cy="2347438"/>
          </a:xfrm>
        </p:grpSpPr>
        <p:sp>
          <p:nvSpPr>
            <p:cNvPr id="178" name="Google Shape;178;p18"/>
            <p:cNvSpPr/>
            <p:nvPr/>
          </p:nvSpPr>
          <p:spPr>
            <a:xfrm>
              <a:off x="5320054" y="1371143"/>
              <a:ext cx="2347438" cy="2347438"/>
            </a:xfrm>
            <a:prstGeom prst="ellipse">
              <a:avLst/>
            </a:prstGeom>
            <a:solidFill>
              <a:schemeClr val="accent1"/>
            </a:solidFill>
            <a:ln cap="flat" cmpd="sng" w="25400">
              <a:solidFill>
                <a:srgbClr val="CFD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5474766" y="2375459"/>
              <a:ext cx="2038014" cy="400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000"/>
                <a:buFont typeface="Roboto Slab"/>
                <a:buNone/>
              </a:pPr>
              <a:r>
                <a:rPr b="0" i="0" lang="en" sz="200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JavaScript</a:t>
              </a:r>
              <a:endParaRPr>
                <a:solidFill>
                  <a:srgbClr val="FFFFFF"/>
                </a:solidFill>
              </a:endParaRPr>
            </a:p>
          </p:txBody>
        </p:sp>
      </p:grpSp>
      <p:grpSp>
        <p:nvGrpSpPr>
          <p:cNvPr id="180" name="Google Shape;180;p18"/>
          <p:cNvGrpSpPr/>
          <p:nvPr/>
        </p:nvGrpSpPr>
        <p:grpSpPr>
          <a:xfrm>
            <a:off x="3961463" y="2304548"/>
            <a:ext cx="1267691" cy="336695"/>
            <a:chOff x="3600501" y="2238944"/>
            <a:chExt cx="1267691" cy="336695"/>
          </a:xfrm>
        </p:grpSpPr>
        <p:cxnSp>
          <p:nvCxnSpPr>
            <p:cNvPr id="181" name="Google Shape;181;p18"/>
            <p:cNvCxnSpPr/>
            <p:nvPr/>
          </p:nvCxnSpPr>
          <p:spPr>
            <a:xfrm>
              <a:off x="3600501" y="2575639"/>
              <a:ext cx="1267691" cy="0"/>
            </a:xfrm>
            <a:prstGeom prst="straightConnector1">
              <a:avLst/>
            </a:prstGeom>
            <a:noFill/>
            <a:ln cap="flat" cmpd="sng" w="31750">
              <a:solidFill>
                <a:srgbClr val="008EE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2" name="Google Shape;182;p18"/>
            <p:cNvSpPr/>
            <p:nvPr/>
          </p:nvSpPr>
          <p:spPr>
            <a:xfrm>
              <a:off x="3689729" y="2238944"/>
              <a:ext cx="10892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400" u="none" cap="none" strike="noStrike">
                  <a:solidFill>
                    <a:srgbClr val="263238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Transpiles</a:t>
              </a:r>
              <a:endParaRPr b="0" i="0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ctrTitle"/>
          </p:nvPr>
        </p:nvSpPr>
        <p:spPr>
          <a:xfrm>
            <a:off x="1546025" y="1754794"/>
            <a:ext cx="5394205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6000">
                <a:solidFill>
                  <a:schemeClr val="accent4"/>
                </a:solidFill>
              </a:rPr>
              <a:t>2.</a:t>
            </a:r>
            <a:endParaRPr sz="6000"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solidFill>
                  <a:srgbClr val="007ACC"/>
                </a:solidFill>
              </a:rPr>
              <a:t>Why TypeScript?</a:t>
            </a:r>
            <a:endParaRPr>
              <a:solidFill>
                <a:srgbClr val="007ACC"/>
              </a:solidFill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1546025" y="3011511"/>
            <a:ext cx="5394206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TypeScript </a:t>
            </a:r>
            <a:r>
              <a:rPr b="1" lang="en" sz="1800"/>
              <a:t>simplifies</a:t>
            </a:r>
            <a:r>
              <a:rPr lang="en" sz="1800"/>
              <a:t> JavaScript code, making it easier to read and debug</a:t>
            </a:r>
            <a:endParaRPr sz="1800"/>
          </a:p>
        </p:txBody>
      </p:sp>
      <p:sp>
        <p:nvSpPr>
          <p:cNvPr id="189" name="Google Shape;189;p19"/>
          <p:cNvSpPr txBox="1"/>
          <p:nvPr>
            <p:ph idx="4294967295" type="sldNum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body"/>
          </p:nvPr>
        </p:nvSpPr>
        <p:spPr>
          <a:xfrm>
            <a:off x="782832" y="1474884"/>
            <a:ext cx="6117927" cy="25447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It will </a:t>
            </a:r>
            <a:r>
              <a:rPr b="1" lang="en" sz="1400"/>
              <a:t>catch compile-time errors</a:t>
            </a:r>
            <a:r>
              <a:rPr lang="en" sz="1400"/>
              <a:t>. And even if they were to ignore that error, you also have systems like Jenkins that can check types and prevent them from being pushed further to production.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Your codebase will become </a:t>
            </a:r>
            <a:r>
              <a:rPr b="1" lang="en" sz="1400"/>
              <a:t>well structured and almost self-documenting</a:t>
            </a:r>
            <a:r>
              <a:rPr lang="en" sz="1400"/>
              <a:t>. Providing types is a form of documenting code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Improved </a:t>
            </a:r>
            <a:r>
              <a:rPr b="1" lang="en" sz="1400"/>
              <a:t>autocompletion</a:t>
            </a:r>
            <a:r>
              <a:rPr lang="en" sz="1400"/>
              <a:t> in your editor.</a:t>
            </a:r>
            <a:endParaRPr sz="1400"/>
          </a:p>
        </p:txBody>
      </p:sp>
      <p:sp>
        <p:nvSpPr>
          <p:cNvPr id="195" name="Google Shape;195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786150" y="1502758"/>
            <a:ext cx="3675300" cy="2369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A language building up on JavaScript. Takes JS and </a:t>
            </a:r>
            <a:r>
              <a:rPr b="1" lang="en" sz="1400"/>
              <a:t>adds new features </a:t>
            </a:r>
            <a:r>
              <a:rPr lang="en" sz="1400"/>
              <a:t>and advantages.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Makes writing JavaScript easier and </a:t>
            </a:r>
            <a:r>
              <a:rPr b="1" lang="en" sz="1400"/>
              <a:t>more </a:t>
            </a:r>
            <a:r>
              <a:rPr b="1" lang="en" sz="1400"/>
              <a:t>powerful</a:t>
            </a:r>
            <a:r>
              <a:rPr lang="en" sz="1400"/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You can think of TypeScript as of "a layer on top" of JavaScript. </a:t>
            </a:r>
            <a:r>
              <a:rPr b="1" lang="en" sz="1400"/>
              <a:t>All JavaScript code is also valid TypeScript code</a:t>
            </a:r>
            <a:r>
              <a:rPr lang="en" sz="1400"/>
              <a:t>.</a:t>
            </a:r>
            <a:endParaRPr sz="1400"/>
          </a:p>
        </p:txBody>
      </p:sp>
      <p:sp>
        <p:nvSpPr>
          <p:cNvPr id="201" name="Google Shape;201;p21"/>
          <p:cNvSpPr txBox="1"/>
          <p:nvPr>
            <p:ph type="title"/>
          </p:nvPr>
        </p:nvSpPr>
        <p:spPr>
          <a:xfrm>
            <a:off x="1069027" y="1144650"/>
            <a:ext cx="14778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rgbClr val="007ACC"/>
                </a:solidFill>
              </a:rPr>
              <a:t>PROS</a:t>
            </a:r>
            <a:endParaRPr>
              <a:solidFill>
                <a:srgbClr val="007ACC"/>
              </a:solidFill>
            </a:endParaRPr>
          </a:p>
        </p:txBody>
      </p:sp>
      <p:sp>
        <p:nvSpPr>
          <p:cNvPr id="202" name="Google Shape;202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4461450" y="1500401"/>
            <a:ext cx="3675300" cy="11388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Overly complicated typing system.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False sense of security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Required compilation</a:t>
            </a:r>
            <a:endParaRPr/>
          </a:p>
          <a:p>
            <a:pPr indent="-158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 sz="1400"/>
          </a:p>
        </p:txBody>
      </p:sp>
      <p:sp>
        <p:nvSpPr>
          <p:cNvPr id="204" name="Google Shape;204;p21"/>
          <p:cNvSpPr txBox="1"/>
          <p:nvPr/>
        </p:nvSpPr>
        <p:spPr>
          <a:xfrm>
            <a:off x="4744321" y="1142289"/>
            <a:ext cx="1036072" cy="48444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0" i="0" lang="en" sz="2000" u="none" cap="none" strike="noStrike">
                <a:solidFill>
                  <a:srgbClr val="007ACC"/>
                </a:solidFill>
                <a:latin typeface="Roboto Slab"/>
                <a:ea typeface="Roboto Slab"/>
                <a:cs typeface="Roboto Slab"/>
                <a:sym typeface="Roboto Slab"/>
              </a:rPr>
              <a:t>CONS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4294967295" type="ctrTitle"/>
          </p:nvPr>
        </p:nvSpPr>
        <p:spPr>
          <a:xfrm>
            <a:off x="2182813" y="1992313"/>
            <a:ext cx="4778375" cy="11588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1" i="0" lang="en" sz="6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TYPES</a:t>
            </a:r>
            <a:endParaRPr b="1" i="0" sz="60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786150" y="695774"/>
            <a:ext cx="7571700" cy="4798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rgbClr val="007ACC"/>
                </a:solidFill>
              </a:rPr>
              <a:t>What are types and what's wrong with JavaScript?</a:t>
            </a:r>
            <a:endParaRPr>
              <a:solidFill>
                <a:srgbClr val="007ACC"/>
              </a:solidFill>
            </a:endParaRPr>
          </a:p>
        </p:txBody>
      </p:sp>
      <p:sp>
        <p:nvSpPr>
          <p:cNvPr id="216" name="Google Shape;21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786150" y="945707"/>
            <a:ext cx="6832406" cy="9825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JavaScript has types. As of today there are </a:t>
            </a:r>
            <a:r>
              <a:rPr b="1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eight types </a:t>
            </a: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 JavaScript:</a:t>
            </a:r>
            <a:endParaRPr b="0" i="0" sz="1400" u="none" cap="none" strike="noStrik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786150" y="1436977"/>
            <a:ext cx="7943410" cy="28126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number</a:t>
            </a:r>
            <a:r>
              <a:rPr lang="en" sz="1400"/>
              <a:t> for numbers of any kind: integer or floating-point, integers are limited by ±253.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bigInt</a:t>
            </a:r>
            <a:r>
              <a:rPr lang="en" sz="1400"/>
              <a:t> is for integer numbers of arbitrary length.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string</a:t>
            </a:r>
            <a:r>
              <a:rPr lang="en" sz="1400"/>
              <a:t> for strings. A string may have zero or more characters, there’s no separate single-character type.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boolean</a:t>
            </a:r>
            <a:r>
              <a:rPr lang="en" sz="1400"/>
              <a:t> for true/false.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null</a:t>
            </a:r>
            <a:r>
              <a:rPr lang="en" sz="1400"/>
              <a:t> for unknown values – a standalone type that has a single value null.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undefined</a:t>
            </a:r>
            <a:r>
              <a:rPr lang="en" sz="1400"/>
              <a:t> for unassigned values – a standalone type that has a single value undefined.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object</a:t>
            </a:r>
            <a:r>
              <a:rPr lang="en" sz="1400"/>
              <a:t> for more complex data structures.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symbol</a:t>
            </a:r>
            <a:r>
              <a:rPr lang="en" sz="1400"/>
              <a:t> for unique identifiers.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786150" y="432592"/>
            <a:ext cx="6575099" cy="9825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Every JavaScript type has a corresponding representation which can be used in our code, like strings and numbers for example.</a:t>
            </a:r>
            <a:endParaRPr b="0" i="0" sz="1400" u="none" cap="none" strike="noStrik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878248" y="1131522"/>
            <a:ext cx="1916201" cy="468026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  var</a:t>
            </a:r>
            <a:r>
              <a:rPr b="0" i="0" lang="en" sz="10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name = </a:t>
            </a:r>
            <a:r>
              <a:rPr b="0" i="0" lang="en" sz="1000" u="none" cap="none" strike="noStrike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"Hello John"</a:t>
            </a:r>
            <a:r>
              <a:rPr b="0" i="0" lang="en" sz="10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D9EF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  var</a:t>
            </a:r>
            <a:r>
              <a:rPr b="0" i="0" lang="en" sz="10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age = </a:t>
            </a:r>
            <a:r>
              <a:rPr b="0" i="0" lang="en" sz="10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r>
              <a:rPr b="0" i="0" lang="en" sz="10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786150" y="1697743"/>
            <a:ext cx="657509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"</a:t>
            </a:r>
            <a:r>
              <a:rPr b="1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problem</a:t>
            </a: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" with JavaScript is that a </a:t>
            </a:r>
            <a:r>
              <a:rPr b="1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variable can change its type</a:t>
            </a: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whenever it (or we) wants. A number for example can later become Boolean.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878248" y="2319158"/>
            <a:ext cx="1916201" cy="314138"/>
          </a:xfrm>
          <a:prstGeom prst="rect">
            <a:avLst/>
          </a:prstGeom>
          <a:solidFill>
            <a:srgbClr val="272822"/>
          </a:solidFill>
          <a:ln>
            <a:noFill/>
          </a:ln>
        </p:spPr>
        <p:txBody>
          <a:bodyPr anchorCtr="0" anchor="ctr" bIns="79350" lIns="0" spcFirstLastPara="1" rIns="0" wrap="square" tIns="79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i="0" lang="en" sz="10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age = </a:t>
            </a:r>
            <a:r>
              <a:rPr b="0" i="0" lang="en" sz="1000" u="none" cap="none" strike="noStrike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" sz="10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n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786150" y="2727496"/>
            <a:ext cx="65750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The transformation can either be intentional, a developer might really want to assign “33" to a Boolean, but there are high chances that these kind of errors will happen by accident.</a:t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786150" y="3466160"/>
            <a:ext cx="66765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 JavaScript "</a:t>
            </a:r>
            <a:r>
              <a:rPr b="1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type dynamism</a:t>
            </a: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" is intentional, however this JS relaxed nature can pose serious problems in your code and undermine its maintainability.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TypeScript aims to solve these problems by adding </a:t>
            </a:r>
            <a:r>
              <a:rPr b="1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strong types </a:t>
            </a: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to JavaScript.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929498" y="772280"/>
            <a:ext cx="5394205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lang="en" sz="2000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Loosely</a:t>
            </a:r>
            <a:r>
              <a:rPr b="0" i="0" lang="en" sz="2000" u="none" cap="none" strike="noStrik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 typed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1" i="0" lang="en" sz="4400" u="none" cap="none" strike="noStrike">
                <a:solidFill>
                  <a:srgbClr val="007ACC"/>
                </a:solidFill>
                <a:latin typeface="Roboto Slab"/>
                <a:ea typeface="Roboto Slab"/>
                <a:cs typeface="Roboto Slab"/>
                <a:sym typeface="Roboto Slab"/>
              </a:rPr>
              <a:t>JavaScript</a:t>
            </a:r>
            <a:endParaRPr/>
          </a:p>
        </p:txBody>
      </p:sp>
      <p:sp>
        <p:nvSpPr>
          <p:cNvPr id="236" name="Google Shape;236;p25"/>
          <p:cNvSpPr txBox="1"/>
          <p:nvPr>
            <p:ph idx="1" type="body"/>
          </p:nvPr>
        </p:nvSpPr>
        <p:spPr>
          <a:xfrm>
            <a:off x="1009674" y="1932080"/>
            <a:ext cx="7943410" cy="28126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This is both a blessing and a curse.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Flexibility (you don’t have to specify what type of information will be stored in a variable in advance)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Automatically types a variable based on what kind of information it stores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Weird type system. (</a:t>
            </a:r>
            <a:r>
              <a:rPr b="1" lang="en" sz="1400"/>
              <a:t>typeof</a:t>
            </a:r>
            <a:r>
              <a:rPr lang="en" sz="1400"/>
              <a:t> operator, Double Equals Versus Triple Equals, Checking for Falsiness)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929498" y="772280"/>
            <a:ext cx="5394205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0" i="0" lang="en" sz="2000" u="none" cap="none" strike="noStrike">
                <a:solidFill>
                  <a:schemeClr val="accent4"/>
                </a:solidFill>
                <a:latin typeface="Roboto Slab"/>
                <a:ea typeface="Roboto Slab"/>
                <a:cs typeface="Roboto Slab"/>
                <a:sym typeface="Roboto Slab"/>
              </a:rPr>
              <a:t>Strongly typed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1" i="0" lang="en" sz="4400" u="none" cap="none" strike="noStrike">
                <a:solidFill>
                  <a:srgbClr val="007ACC"/>
                </a:solidFill>
                <a:latin typeface="Roboto Slab"/>
                <a:ea typeface="Roboto Slab"/>
                <a:cs typeface="Roboto Slab"/>
                <a:sym typeface="Roboto Slab"/>
              </a:rPr>
              <a:t>TypeScript</a:t>
            </a:r>
            <a:endParaRPr b="1" i="0" sz="4400" u="none" cap="none" strike="noStrike">
              <a:solidFill>
                <a:srgbClr val="007AC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43" name="Google Shape;243;p26"/>
          <p:cNvSpPr txBox="1"/>
          <p:nvPr>
            <p:ph idx="1" type="body"/>
          </p:nvPr>
        </p:nvSpPr>
        <p:spPr>
          <a:xfrm>
            <a:off x="1009674" y="1932080"/>
            <a:ext cx="7943410" cy="28126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Strong typing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Object-oriented features (interface, class, constructors, access modifiers…)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Compile-time errors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" sz="1400"/>
              <a:t>Great tooling (</a:t>
            </a:r>
            <a:r>
              <a:rPr lang="en" sz="1400"/>
              <a:t>intelli</a:t>
            </a:r>
            <a:r>
              <a:rPr lang="en" sz="1400"/>
              <a:t>-</a:t>
            </a:r>
            <a:r>
              <a:rPr lang="en" sz="1400"/>
              <a:t>sense</a:t>
            </a:r>
            <a:r>
              <a:rPr lang="en" sz="1400"/>
              <a:t>)</a:t>
            </a:r>
            <a:endParaRPr/>
          </a:p>
          <a:p>
            <a:pPr indent="-158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>
            <p:ph type="title"/>
          </p:nvPr>
        </p:nvSpPr>
        <p:spPr>
          <a:xfrm>
            <a:off x="786150" y="695774"/>
            <a:ext cx="7571700" cy="47988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solidFill>
                  <a:srgbClr val="007ACC"/>
                </a:solidFill>
              </a:rPr>
              <a:t>TypeScript types.</a:t>
            </a:r>
            <a:endParaRPr>
              <a:solidFill>
                <a:srgbClr val="007ACC"/>
              </a:solidFill>
            </a:endParaRPr>
          </a:p>
        </p:txBody>
      </p:sp>
      <p:sp>
        <p:nvSpPr>
          <p:cNvPr id="249" name="Google Shape;249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27"/>
          <p:cNvSpPr txBox="1"/>
          <p:nvPr/>
        </p:nvSpPr>
        <p:spPr>
          <a:xfrm>
            <a:off x="786150" y="945707"/>
            <a:ext cx="6832406" cy="9825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As of today there are </a:t>
            </a:r>
            <a:r>
              <a:rPr b="1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12 basic types </a:t>
            </a:r>
            <a:r>
              <a:rPr b="0" i="0" lang="en" sz="1400" u="none" cap="none" strike="noStrik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 TypeScript:</a:t>
            </a:r>
            <a:endParaRPr b="0" i="0" sz="1400" u="none" cap="none" strike="noStrike">
              <a:solidFill>
                <a:srgbClr val="263238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1" name="Google Shape;251;p27"/>
          <p:cNvSpPr txBox="1"/>
          <p:nvPr>
            <p:ph idx="1" type="body"/>
          </p:nvPr>
        </p:nvSpPr>
        <p:spPr>
          <a:xfrm>
            <a:off x="786150" y="1436977"/>
            <a:ext cx="2237136" cy="28126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number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string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Boolean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object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Array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tuple</a:t>
            </a:r>
            <a:endParaRPr/>
          </a:p>
        </p:txBody>
      </p:sp>
      <p:sp>
        <p:nvSpPr>
          <p:cNvPr id="252" name="Google Shape;252;p27"/>
          <p:cNvSpPr txBox="1"/>
          <p:nvPr>
            <p:ph idx="1" type="body"/>
          </p:nvPr>
        </p:nvSpPr>
        <p:spPr>
          <a:xfrm>
            <a:off x="2709685" y="1436977"/>
            <a:ext cx="2237136" cy="28126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enum</a:t>
            </a:r>
            <a:endParaRPr b="1" sz="1400"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any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void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null and undefined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unknown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b="1" lang="en" sz="1400"/>
              <a:t>never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idx="4294967295" type="ctrTitle"/>
          </p:nvPr>
        </p:nvSpPr>
        <p:spPr>
          <a:xfrm>
            <a:off x="685800" y="1450677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</a:pPr>
            <a:r>
              <a:rPr b="1" i="0" lang="en" sz="6000" u="none" cap="none" strike="noStrik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Thanks!</a:t>
            </a:r>
            <a:endParaRPr b="1" i="0" sz="6000" u="none" cap="none" strike="noStrike">
              <a:solidFill>
                <a:schemeClr val="accen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258" name="Google Shape;258;p28"/>
          <p:cNvSpPr txBox="1"/>
          <p:nvPr>
            <p:ph idx="4294967295" type="subTitle"/>
          </p:nvPr>
        </p:nvSpPr>
        <p:spPr>
          <a:xfrm>
            <a:off x="685800" y="2574048"/>
            <a:ext cx="65937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Any questions?</a:t>
            </a:r>
            <a:endParaRPr b="1" i="0" sz="3600" u="none" cap="none" strike="noStrike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9" name="Google Shape;259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